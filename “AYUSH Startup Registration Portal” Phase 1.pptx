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4" r:id="rId5"/>
    <p:sldId id="273" r:id="rId6"/>
    <p:sldId id="268" r:id="rId7"/>
    <p:sldId id="272" r:id="rId8"/>
    <p:sldId id="271" r:id="rId9"/>
    <p:sldId id="270" r:id="rId10"/>
    <p:sldId id="265" r:id="rId11"/>
    <p:sldId id="277" r:id="rId12"/>
    <p:sldId id="276"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14F3220-7492-899E-61C0-6F2BB1B052F5}"/>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B1D19275-0B91-1967-9F3B-A69B4C41DC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7BBA34F9-22D9-4ACD-8783-699BD1F69E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9748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340DC2E-F650-1721-043D-9FB4277C3B2D}"/>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096C0A1A-8106-B967-D3EA-C00EB04276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2DC28A15-FA81-9DD6-D735-A54A64980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4119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Gangadhara2829/Ayush-Startup-Registration-Porta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t>AYUSH Startup Registration Portal</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3</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806967" y="2513340"/>
            <a:ext cx="5514300" cy="202056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a:t>
            </a:r>
            <a:r>
              <a:rPr lang="en-IN"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Saravana Kumar S</a:t>
            </a: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Associate </a:t>
            </a: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lang="en-US" dirty="0">
              <a:latin typeface="Cambria" panose="02040503050406030204" pitchFamily="18" charset="0"/>
              <a:ea typeface="Cambria" panose="02040503050406030204" pitchFamily="18" charset="0"/>
            </a:endParaRPr>
          </a:p>
          <a:p>
            <a:pPr marL="0" marR="0" lvl="0" indent="0" rtl="0">
              <a:spcBef>
                <a:spcPts val="340"/>
              </a:spcBef>
              <a:spcAft>
                <a:spcPts val="0"/>
              </a:spcAft>
              <a:buClr>
                <a:srgbClr val="17365D"/>
              </a:buClr>
              <a:buSzPts val="1700"/>
              <a:buFont typeface="Arial"/>
              <a:buNone/>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a:t>
            </a:r>
            <a:r>
              <a:rPr lang="en-US" sz="1700" b="1" dirty="0">
                <a:solidFill>
                  <a:srgbClr val="17365D"/>
                </a:solidFill>
                <a:latin typeface="Cambria" panose="02040503050406030204" pitchFamily="18" charset="0"/>
                <a:ea typeface="Cambria" panose="02040503050406030204" pitchFamily="18" charset="0"/>
                <a:cs typeface="Verdana"/>
                <a:sym typeface="Verdana"/>
              </a:rPr>
              <a:t>Information Science</a:t>
            </a:r>
          </a:p>
          <a:p>
            <a:pPr marL="0" marR="0" lvl="0" indent="0"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992777980"/>
              </p:ext>
            </p:extLst>
          </p:nvPr>
        </p:nvGraphicFramePr>
        <p:xfrm>
          <a:off x="553347" y="2721840"/>
          <a:ext cx="6213213" cy="2194620"/>
        </p:xfrm>
        <a:graphic>
          <a:graphicData uri="http://schemas.openxmlformats.org/drawingml/2006/table">
            <a:tbl>
              <a:tblPr firstRow="1" bandRow="1">
                <a:noFill/>
                <a:tableStyleId>{57690726-49DA-4552-BDEB-330DD8EA8BD9}</a:tableStyleId>
              </a:tblPr>
              <a:tblGrid>
                <a:gridCol w="2128435">
                  <a:extLst>
                    <a:ext uri="{9D8B030D-6E8A-4147-A177-3AD203B41FA5}">
                      <a16:colId xmlns:a16="http://schemas.microsoft.com/office/drawing/2014/main" val="20000"/>
                    </a:ext>
                  </a:extLst>
                </a:gridCol>
                <a:gridCol w="4084778">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20221CSD0110</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IN" sz="1800" u="none" strike="noStrike" cap="none" dirty="0"/>
                        <a:t>GANGADHARA</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20221CSD0109 </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IN" sz="1800" u="none" strike="noStrike" cap="none" dirty="0"/>
                        <a:t>CHANDAN KUMAR </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20221CSD0154</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IN" sz="1800" u="none" strike="noStrike" cap="none" dirty="0"/>
                        <a:t>NAVYASHREE E</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1176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err="1">
                <a:solidFill>
                  <a:schemeClr val="tx1"/>
                </a:solidFill>
                <a:latin typeface="Cambria" panose="02040503050406030204" pitchFamily="18" charset="0"/>
                <a:ea typeface="Cambria" panose="02040503050406030204" pitchFamily="18" charset="0"/>
                <a:cs typeface="Verdana"/>
                <a:sym typeface="Verdana"/>
              </a:rPr>
              <a:t>B.Tech</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IN" sz="1600" b="1" dirty="0"/>
              <a:t>Dr. </a:t>
            </a:r>
            <a:r>
              <a:rPr lang="en-IN" sz="1600" b="1" dirty="0" err="1"/>
              <a:t>Pravinthraja</a:t>
            </a:r>
            <a:r>
              <a:rPr lang="en-IN" sz="1600" b="1" dirty="0"/>
              <a:t> S </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600" b="1" dirty="0">
                <a:latin typeface="+mn-lt"/>
              </a:rPr>
              <a:t>Dr. H M Manjula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IN" sz="2400" dirty="0"/>
              <a:t>PSCS_285</a:t>
            </a:r>
            <a:endParaRPr sz="240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0000" lnSpcReduction="20000"/>
          </a:bodyPr>
          <a:lstStyle/>
          <a:p>
            <a:pPr marL="342900" lvl="0" indent="-190500" algn="just">
              <a:lnSpc>
                <a:spcPct val="170000"/>
              </a:lnSpc>
              <a:spcBef>
                <a:spcPts val="0"/>
              </a:spcBef>
              <a:buNone/>
            </a:pPr>
            <a:r>
              <a:rPr lang="en-US" sz="2900" b="1" dirty="0">
                <a:latin typeface="+mn-lt"/>
                <a:ea typeface="Cambria" panose="02040503050406030204" pitchFamily="18" charset="0"/>
              </a:rPr>
              <a:t>Organization: </a:t>
            </a:r>
            <a:r>
              <a:rPr lang="en-IN" sz="2900" dirty="0">
                <a:latin typeface="+mn-lt"/>
              </a:rPr>
              <a:t>Ministry of AYUSH</a:t>
            </a:r>
            <a:endParaRPr lang="en-US" sz="2900" dirty="0">
              <a:latin typeface="+mn-lt"/>
              <a:ea typeface="Cambria" panose="02040503050406030204" pitchFamily="18" charset="0"/>
            </a:endParaRPr>
          </a:p>
          <a:p>
            <a:pPr marL="342900" lvl="0" indent="-190500" algn="just">
              <a:lnSpc>
                <a:spcPct val="170000"/>
              </a:lnSpc>
              <a:spcBef>
                <a:spcPts val="0"/>
              </a:spcBef>
              <a:buNone/>
            </a:pPr>
            <a:r>
              <a:rPr lang="en-US" sz="2900" b="1" dirty="0">
                <a:latin typeface="+mn-lt"/>
                <a:ea typeface="Cambria" panose="02040503050406030204" pitchFamily="18" charset="0"/>
              </a:rPr>
              <a:t>Category (Hardware / Software / Both) </a:t>
            </a:r>
            <a:r>
              <a:rPr lang="en-US" sz="2900" dirty="0">
                <a:latin typeface="+mn-lt"/>
                <a:ea typeface="Cambria" panose="02040503050406030204" pitchFamily="18" charset="0"/>
              </a:rPr>
              <a:t>: Software</a:t>
            </a:r>
          </a:p>
          <a:p>
            <a:pPr marL="342900" indent="-190500" algn="just">
              <a:lnSpc>
                <a:spcPct val="170000"/>
              </a:lnSpc>
              <a:spcBef>
                <a:spcPts val="0"/>
              </a:spcBef>
              <a:buNone/>
            </a:pPr>
            <a:r>
              <a:rPr lang="en-US" sz="2900" b="1" dirty="0">
                <a:latin typeface="+mn-lt"/>
                <a:ea typeface="Cambria" panose="02040503050406030204" pitchFamily="18" charset="0"/>
              </a:rPr>
              <a:t>Problem Description:</a:t>
            </a:r>
          </a:p>
          <a:p>
            <a:pPr marL="342900" indent="-190500">
              <a:lnSpc>
                <a:spcPct val="170000"/>
              </a:lnSpc>
              <a:spcBef>
                <a:spcPts val="0"/>
              </a:spcBef>
              <a:buNone/>
            </a:pPr>
            <a:r>
              <a:rPr lang="en-US" sz="2900" b="1" dirty="0">
                <a:latin typeface="+mn-lt"/>
                <a:ea typeface="Cambria" panose="02040503050406030204" pitchFamily="18" charset="0"/>
              </a:rPr>
              <a:t>   </a:t>
            </a:r>
            <a:r>
              <a:rPr lang="en-US" sz="2900" dirty="0">
                <a:latin typeface="+mn-lt"/>
              </a:rPr>
              <a:t>The AYUSH sector is growing rapidly with innovative startups, but the current registration process is manual, slow, and lacks transparency. Startups face delays in compliance, difficulty tracking applications, and challenges with document verification. A centralized online portal is needed to provide secure authentication, easy application submission, document uploads, and real-time status tracking, ensuring efficiency, transparency, and better integration of AYUSH startups into the healthcare ecosystem.</a:t>
            </a:r>
          </a:p>
          <a:p>
            <a:pPr marL="342900" lvl="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Problem Statement</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83062" y="937953"/>
            <a:ext cx="10668000" cy="3924299"/>
          </a:xfrm>
          <a:prstGeom prst="rect">
            <a:avLst/>
          </a:prstGeom>
          <a:noFill/>
          <a:ln>
            <a:noFill/>
          </a:ln>
        </p:spPr>
        <p:txBody>
          <a:bodyPr spcFirstLastPara="1" wrap="square" lIns="91425" tIns="45700" rIns="91425" bIns="45700" anchor="t" anchorCtr="0">
            <a:normAutofit/>
          </a:bodyPr>
          <a:lstStyle/>
          <a:p>
            <a:pPr>
              <a:lnSpc>
                <a:spcPct val="150000"/>
              </a:lnSpc>
            </a:pPr>
            <a:r>
              <a:rPr lang="en-US" sz="2000" dirty="0">
                <a:latin typeface="+mn-lt"/>
              </a:rPr>
              <a:t>Current startup registration process in AYUSH sector is time-consuming, manual, and lacks transparency.</a:t>
            </a:r>
          </a:p>
          <a:p>
            <a:pPr>
              <a:lnSpc>
                <a:spcPct val="150000"/>
              </a:lnSpc>
            </a:pPr>
            <a:r>
              <a:rPr lang="en-US" sz="2000" dirty="0">
                <a:latin typeface="+mn-lt"/>
              </a:rPr>
              <a:t>Startups face challenges in tracking applications, uploading compliance documents, and receiving timely updates.</a:t>
            </a:r>
          </a:p>
          <a:p>
            <a:pPr>
              <a:lnSpc>
                <a:spcPct val="150000"/>
              </a:lnSpc>
            </a:pPr>
            <a:r>
              <a:rPr lang="en-US" sz="2000" dirty="0">
                <a:latin typeface="+mn-lt"/>
              </a:rPr>
              <a:t>Absence of a centralized portal reduces accessibility and efficiency.</a:t>
            </a:r>
          </a:p>
          <a:p>
            <a:pPr>
              <a:lnSpc>
                <a:spcPct val="150000"/>
              </a:lnSpc>
            </a:pPr>
            <a:r>
              <a:rPr lang="en-US" sz="2000" dirty="0">
                <a:latin typeface="+mn-lt"/>
              </a:rPr>
              <a:t>Need for a digital, secure, and transparent registration system that integrates stakeholders.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Objectives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a:lnSpc>
                <a:spcPct val="150000"/>
              </a:lnSpc>
              <a:buFont typeface="Wingdings" panose="05000000000000000000" pitchFamily="2" charset="2"/>
              <a:buChar char="§"/>
            </a:pPr>
            <a:r>
              <a:rPr lang="en-US" sz="2000" dirty="0">
                <a:latin typeface="+mn-lt"/>
              </a:rPr>
              <a:t>To design and develop a comprehensive online registration portal for AYUSH startups.</a:t>
            </a:r>
          </a:p>
          <a:p>
            <a:pPr>
              <a:lnSpc>
                <a:spcPct val="150000"/>
              </a:lnSpc>
              <a:buFont typeface="Wingdings" panose="05000000000000000000" pitchFamily="2" charset="2"/>
              <a:buChar char="§"/>
            </a:pPr>
            <a:r>
              <a:rPr lang="en-US" sz="2000" dirty="0">
                <a:latin typeface="+mn-lt"/>
              </a:rPr>
              <a:t>To enable secure authentication for users, startups, and officials.</a:t>
            </a:r>
          </a:p>
          <a:p>
            <a:pPr>
              <a:lnSpc>
                <a:spcPct val="150000"/>
              </a:lnSpc>
              <a:buFont typeface="Wingdings" panose="05000000000000000000" pitchFamily="2" charset="2"/>
              <a:buChar char="§"/>
            </a:pPr>
            <a:r>
              <a:rPr lang="en-US" sz="2000" dirty="0">
                <a:latin typeface="+mn-lt"/>
              </a:rPr>
              <a:t>To provide a document upload and compliance verification system.</a:t>
            </a:r>
          </a:p>
          <a:p>
            <a:pPr>
              <a:lnSpc>
                <a:spcPct val="150000"/>
              </a:lnSpc>
              <a:buFont typeface="Wingdings" panose="05000000000000000000" pitchFamily="2" charset="2"/>
              <a:buChar char="§"/>
            </a:pPr>
            <a:r>
              <a:rPr lang="en-US" sz="2000" dirty="0">
                <a:latin typeface="+mn-lt"/>
              </a:rPr>
              <a:t>To allow startups to track application status in real-time.</a:t>
            </a:r>
          </a:p>
          <a:p>
            <a:pPr>
              <a:lnSpc>
                <a:spcPct val="150000"/>
              </a:lnSpc>
              <a:buFont typeface="Wingdings" panose="05000000000000000000" pitchFamily="2" charset="2"/>
              <a:buChar char="§"/>
            </a:pPr>
            <a:r>
              <a:rPr lang="en-US" sz="2000" dirty="0">
                <a:latin typeface="+mn-lt"/>
              </a:rPr>
              <a:t>To create an admin panel for officials to review and approve/reject applications.</a:t>
            </a:r>
          </a:p>
          <a:p>
            <a:pPr>
              <a:lnSpc>
                <a:spcPct val="150000"/>
              </a:lnSpc>
              <a:buFont typeface="Wingdings" panose="05000000000000000000" pitchFamily="2" charset="2"/>
              <a:buChar char="§"/>
            </a:pPr>
            <a:r>
              <a:rPr lang="en-US" sz="2000" dirty="0">
                <a:latin typeface="+mn-lt"/>
              </a:rPr>
              <a:t>To ensure scalability, transparency, and user-friendliness.</a:t>
            </a:r>
          </a:p>
          <a:p>
            <a:pPr marL="495300" lvl="0" indent="-342900" algn="just" rtl="0">
              <a:lnSpc>
                <a:spcPct val="150000"/>
              </a:lnSpc>
              <a:spcBef>
                <a:spcPts val="0"/>
              </a:spcBef>
              <a:spcAft>
                <a:spcPts val="0"/>
              </a:spcAft>
              <a:buClr>
                <a:schemeClr val="dk1"/>
              </a:buClr>
              <a:buSzPct val="100000"/>
              <a:buFont typeface="Wingdings" panose="05000000000000000000" pitchFamily="2" charset="2"/>
              <a:buChar char="§"/>
            </a:pPr>
            <a:endParaRPr sz="2000" dirty="0">
              <a:latin typeface="+mn-lt"/>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Background &amp; Related Work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6" name="Rectangle 3">
            <a:extLst>
              <a:ext uri="{FF2B5EF4-FFF2-40B4-BE49-F238E27FC236}">
                <a16:creationId xmlns:a16="http://schemas.microsoft.com/office/drawing/2014/main" id="{D05AFF40-E5AE-AA46-9B97-61C43828575F}"/>
              </a:ext>
            </a:extLst>
          </p:cNvPr>
          <p:cNvSpPr>
            <a:spLocks noChangeArrowheads="1"/>
          </p:cNvSpPr>
          <p:nvPr/>
        </p:nvSpPr>
        <p:spPr bwMode="auto">
          <a:xfrm>
            <a:off x="563880" y="1143000"/>
            <a:ext cx="11064240" cy="2343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mn-lt"/>
              </a:rPr>
              <a:t>Many sectors (MSME, Startup India portal) already use digital platforms for registration.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mn-lt"/>
              </a:rPr>
              <a:t>However, the AYUSH sector lacks a dedicated registration system tailored to its needs.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mn-lt"/>
              </a:rPr>
              <a:t>Existing solutions are fragmented and not user-friendly.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mn-lt"/>
              </a:rPr>
              <a:t>Related works show that digital workflows reduce processing time by 40–50%.</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mn-lt"/>
              </a:rPr>
              <a:t>Our portal will be sector-specific, addressing AYUSH guidelines and compliance needs.</a:t>
            </a:r>
          </a:p>
        </p:txBody>
      </p:sp>
    </p:spTree>
    <p:extLst>
      <p:ext uri="{BB962C8B-B14F-4D97-AF65-F5344CB8AC3E}">
        <p14:creationId xmlns:p14="http://schemas.microsoft.com/office/powerpoint/2010/main" val="285635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a:lnSpc>
                <a:spcPct val="150000"/>
              </a:lnSpc>
              <a:buFont typeface="Wingdings" panose="05000000000000000000" pitchFamily="2" charset="2"/>
              <a:buChar char="§"/>
            </a:pPr>
            <a:r>
              <a:rPr lang="en-US" sz="2000" dirty="0">
                <a:latin typeface="+mn-lt"/>
              </a:rPr>
              <a:t>Analysis of Problem Statement</a:t>
            </a:r>
          </a:p>
          <a:p>
            <a:pPr>
              <a:lnSpc>
                <a:spcPct val="150000"/>
              </a:lnSpc>
              <a:buFont typeface="Wingdings" panose="05000000000000000000" pitchFamily="2" charset="2"/>
              <a:buChar char="§"/>
            </a:pPr>
            <a:r>
              <a:rPr lang="en-US" sz="2000" dirty="0">
                <a:latin typeface="+mn-lt"/>
              </a:rPr>
              <a:t>Users: Startups, Officials, Admins</a:t>
            </a:r>
          </a:p>
          <a:p>
            <a:pPr>
              <a:lnSpc>
                <a:spcPct val="150000"/>
              </a:lnSpc>
              <a:buFont typeface="Wingdings" panose="05000000000000000000" pitchFamily="2" charset="2"/>
              <a:buChar char="§"/>
            </a:pPr>
            <a:r>
              <a:rPr lang="en-US" sz="2000" dirty="0">
                <a:latin typeface="+mn-lt"/>
              </a:rPr>
              <a:t>Key Features Needed:</a:t>
            </a:r>
          </a:p>
          <a:p>
            <a:pPr lvl="1">
              <a:lnSpc>
                <a:spcPct val="150000"/>
              </a:lnSpc>
              <a:buFont typeface="Wingdings" panose="05000000000000000000" pitchFamily="2" charset="2"/>
              <a:buChar char="§"/>
            </a:pPr>
            <a:r>
              <a:rPr lang="en-US" dirty="0">
                <a:latin typeface="+mn-lt"/>
              </a:rPr>
              <a:t>User Authentication (Startups &amp; Officials)</a:t>
            </a:r>
          </a:p>
          <a:p>
            <a:pPr lvl="1">
              <a:lnSpc>
                <a:spcPct val="150000"/>
              </a:lnSpc>
              <a:buFont typeface="Wingdings" panose="05000000000000000000" pitchFamily="2" charset="2"/>
              <a:buChar char="§"/>
            </a:pPr>
            <a:r>
              <a:rPr lang="en-US" dirty="0">
                <a:latin typeface="+mn-lt"/>
              </a:rPr>
              <a:t>Application Submission with document uploads</a:t>
            </a:r>
          </a:p>
          <a:p>
            <a:pPr lvl="1">
              <a:lnSpc>
                <a:spcPct val="150000"/>
              </a:lnSpc>
              <a:buFont typeface="Wingdings" panose="05000000000000000000" pitchFamily="2" charset="2"/>
              <a:buChar char="§"/>
            </a:pPr>
            <a:r>
              <a:rPr lang="en-US" dirty="0">
                <a:latin typeface="+mn-lt"/>
              </a:rPr>
              <a:t>Real-time tracking and notifications</a:t>
            </a:r>
          </a:p>
          <a:p>
            <a:pPr lvl="1">
              <a:lnSpc>
                <a:spcPct val="150000"/>
              </a:lnSpc>
              <a:buFont typeface="Wingdings" panose="05000000000000000000" pitchFamily="2" charset="2"/>
              <a:buChar char="§"/>
            </a:pPr>
            <a:r>
              <a:rPr lang="en-US" dirty="0">
                <a:latin typeface="+mn-lt"/>
              </a:rPr>
              <a:t>Role-based access control</a:t>
            </a:r>
          </a:p>
          <a:p>
            <a:pPr lvl="1">
              <a:lnSpc>
                <a:spcPct val="150000"/>
              </a:lnSpc>
              <a:buFont typeface="Wingdings" panose="05000000000000000000" pitchFamily="2" charset="2"/>
              <a:buChar char="§"/>
            </a:pPr>
            <a:r>
              <a:rPr lang="en-US" dirty="0">
                <a:latin typeface="+mn-lt"/>
              </a:rPr>
              <a:t>Data security and compliance with AYUSH norms</a:t>
            </a:r>
          </a:p>
          <a:p>
            <a:pPr>
              <a:lnSpc>
                <a:spcPct val="150000"/>
              </a:lnSpc>
              <a:buFont typeface="Wingdings" panose="05000000000000000000" pitchFamily="2" charset="2"/>
              <a:buChar char="§"/>
            </a:pPr>
            <a:r>
              <a:rPr lang="en-US" sz="2000" dirty="0">
                <a:latin typeface="+mn-lt"/>
              </a:rPr>
              <a:t>Challenges: Handling sensitive data, ensuring scalability, and seamless UI/UX.</a:t>
            </a:r>
          </a:p>
          <a:p>
            <a:pPr marL="495300" lvl="0" indent="-342900" algn="just" rtl="0">
              <a:lnSpc>
                <a:spcPct val="150000"/>
              </a:lnSpc>
              <a:spcBef>
                <a:spcPts val="0"/>
              </a:spcBef>
              <a:spcAft>
                <a:spcPts val="0"/>
              </a:spcAft>
              <a:buClr>
                <a:schemeClr val="dk1"/>
              </a:buClr>
              <a:buSzPct val="100000"/>
              <a:buFont typeface="Wingdings" panose="05000000000000000000" pitchFamily="2" charset="2"/>
              <a:buChar char="§"/>
            </a:pPr>
            <a:endParaRPr sz="2000" dirty="0">
              <a:latin typeface="+mn-lt"/>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Technology Stack</a:t>
            </a:r>
            <a:endParaRPr lang="en-US"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E31B48F9-9D12-5B47-0277-FE757760D3B7}"/>
              </a:ext>
            </a:extLst>
          </p:cNvPr>
          <p:cNvSpPr>
            <a:spLocks noGrp="1" noChangeArrowheads="1"/>
          </p:cNvSpPr>
          <p:nvPr>
            <p:ph type="body" idx="1"/>
          </p:nvPr>
        </p:nvSpPr>
        <p:spPr bwMode="auto">
          <a:xfrm>
            <a:off x="812800" y="1093906"/>
            <a:ext cx="611577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Frontend:</a:t>
            </a:r>
            <a:r>
              <a:rPr kumimoji="0" lang="en-US" altLang="en-US" sz="2000" b="0" i="0" u="none" strike="noStrike" cap="none" normalizeH="0" baseline="0" dirty="0">
                <a:ln>
                  <a:noFill/>
                </a:ln>
                <a:solidFill>
                  <a:schemeClr val="tx1"/>
                </a:solidFill>
                <a:effectLst/>
                <a:latin typeface="Arial" panose="020B0604020202020204" pitchFamily="34" charset="0"/>
              </a:rPr>
              <a:t> React.js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Backend:</a:t>
            </a:r>
            <a:r>
              <a:rPr kumimoji="0" lang="en-US" altLang="en-US" sz="2000" b="0" i="0" u="none" strike="noStrike" cap="none" normalizeH="0" baseline="0" dirty="0">
                <a:ln>
                  <a:noFill/>
                </a:ln>
                <a:solidFill>
                  <a:schemeClr val="tx1"/>
                </a:solidFill>
                <a:effectLst/>
                <a:latin typeface="Arial" panose="020B0604020202020204" pitchFamily="34" charset="0"/>
              </a:rPr>
              <a:t> Node.js with Express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Database:</a:t>
            </a:r>
            <a:r>
              <a:rPr kumimoji="0" lang="en-US" altLang="en-US" sz="2000" b="0" i="0" u="none" strike="noStrike" cap="none" normalizeH="0" baseline="0" dirty="0">
                <a:ln>
                  <a:noFill/>
                </a:ln>
                <a:solidFill>
                  <a:schemeClr val="tx1"/>
                </a:solidFill>
                <a:effectLst/>
                <a:latin typeface="Arial" panose="020B0604020202020204" pitchFamily="34" charset="0"/>
              </a:rPr>
              <a:t> MongoDB</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Authentication:</a:t>
            </a:r>
            <a:r>
              <a:rPr kumimoji="0" lang="en-US" altLang="en-US" sz="2000" b="0" i="0" u="none" strike="noStrike" cap="none" normalizeH="0" baseline="0" dirty="0">
                <a:ln>
                  <a:noFill/>
                </a:ln>
                <a:solidFill>
                  <a:schemeClr val="tx1"/>
                </a:solidFill>
                <a:effectLst/>
                <a:latin typeface="Arial" panose="020B0604020202020204" pitchFamily="34" charset="0"/>
              </a:rPr>
              <a:t> JWT / OAuth2.0</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Cloud Deployment:</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Vercel</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Document Storage:</a:t>
            </a:r>
            <a:r>
              <a:rPr kumimoji="0" lang="en-US" altLang="en-US" sz="2000" b="0" i="0" u="none" strike="noStrike" cap="none" normalizeH="0" baseline="0" dirty="0">
                <a:ln>
                  <a:noFill/>
                </a:ln>
                <a:solidFill>
                  <a:schemeClr val="tx1"/>
                </a:solidFill>
                <a:effectLst/>
                <a:latin typeface="Arial" panose="020B0604020202020204" pitchFamily="34" charset="0"/>
              </a:rPr>
              <a:t> AWS S3 / Firebase Storage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Version Control:</a:t>
            </a:r>
            <a:r>
              <a:rPr kumimoji="0" lang="en-US" altLang="en-US" sz="2000" b="0" i="0" u="none" strike="noStrike" cap="none" normalizeH="0" baseline="0" dirty="0">
                <a:ln>
                  <a:noFill/>
                </a:ln>
                <a:solidFill>
                  <a:schemeClr val="tx1"/>
                </a:solidFill>
                <a:effectLst/>
                <a:latin typeface="Arial" panose="020B0604020202020204" pitchFamily="34" charset="0"/>
              </a:rPr>
              <a:t> GitHub</a:t>
            </a: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IN" dirty="0"/>
              <a:t>Innovation / Novel Contributions</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0E36EA23-081E-26A4-3B25-34851D9B4B40}"/>
              </a:ext>
            </a:extLst>
          </p:cNvPr>
          <p:cNvSpPr>
            <a:spLocks noGrp="1" noChangeArrowheads="1"/>
          </p:cNvSpPr>
          <p:nvPr>
            <p:ph type="body" idx="1"/>
          </p:nvPr>
        </p:nvSpPr>
        <p:spPr bwMode="auto">
          <a:xfrm>
            <a:off x="812800" y="1169492"/>
            <a:ext cx="9791463"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eaLnBrk="0" fontAlgn="base" hangingPunct="0">
              <a:lnSpc>
                <a:spcPct val="150000"/>
              </a:lnSpc>
              <a:spcBef>
                <a:spcPct val="0"/>
              </a:spcBef>
              <a:spcAft>
                <a:spcPct val="0"/>
              </a:spcAft>
              <a:buClrTx/>
              <a:buSzTx/>
              <a:buFont typeface="Wingdings" panose="05000000000000000000" pitchFamily="2" charset="2"/>
              <a:buChar char="§"/>
            </a:pPr>
            <a:r>
              <a:rPr kumimoji="0" lang="en-US" altLang="en-US" sz="2000" i="0" u="none" strike="noStrike" cap="none" normalizeH="0" baseline="0" dirty="0">
                <a:ln>
                  <a:noFill/>
                </a:ln>
                <a:solidFill>
                  <a:schemeClr val="tx1"/>
                </a:solidFill>
                <a:effectLst/>
                <a:latin typeface="Arial" panose="020B0604020202020204" pitchFamily="34" charset="0"/>
              </a:rPr>
              <a:t>A dedicated, sector-specific registration system for AYUSH startups.</a:t>
            </a:r>
          </a:p>
          <a:p>
            <a:pPr marL="342900" indent="-342900" eaLnBrk="0" fontAlgn="base" hangingPunct="0">
              <a:lnSpc>
                <a:spcPct val="150000"/>
              </a:lnSpc>
              <a:spcBef>
                <a:spcPct val="0"/>
              </a:spcBef>
              <a:spcAft>
                <a:spcPct val="0"/>
              </a:spcAft>
              <a:buClrTx/>
              <a:buSzTx/>
              <a:buFont typeface="Wingdings" panose="05000000000000000000" pitchFamily="2" charset="2"/>
              <a:buChar char="§"/>
            </a:pPr>
            <a:r>
              <a:rPr kumimoji="0" lang="en-US" altLang="en-US" sz="2000" i="0" u="none" strike="noStrike" cap="none" normalizeH="0" baseline="0" dirty="0">
                <a:ln>
                  <a:noFill/>
                </a:ln>
                <a:solidFill>
                  <a:schemeClr val="tx1"/>
                </a:solidFill>
                <a:effectLst/>
                <a:latin typeface="Arial" panose="020B0604020202020204" pitchFamily="34" charset="0"/>
              </a:rPr>
              <a:t>Real-time status tracking and notification system.</a:t>
            </a:r>
          </a:p>
          <a:p>
            <a:pPr marL="342900" indent="-342900" eaLnBrk="0" fontAlgn="base" hangingPunct="0">
              <a:lnSpc>
                <a:spcPct val="150000"/>
              </a:lnSpc>
              <a:spcBef>
                <a:spcPct val="0"/>
              </a:spcBef>
              <a:spcAft>
                <a:spcPct val="0"/>
              </a:spcAft>
              <a:buClrTx/>
              <a:buSzTx/>
              <a:buFont typeface="Wingdings" panose="05000000000000000000" pitchFamily="2" charset="2"/>
              <a:buChar char="§"/>
            </a:pPr>
            <a:r>
              <a:rPr kumimoji="0" lang="en-US" altLang="en-US" sz="2000" i="0" u="none" strike="noStrike" cap="none" normalizeH="0" baseline="0" dirty="0">
                <a:ln>
                  <a:noFill/>
                </a:ln>
                <a:solidFill>
                  <a:schemeClr val="tx1"/>
                </a:solidFill>
                <a:effectLst/>
                <a:latin typeface="Arial" panose="020B0604020202020204" pitchFamily="34" charset="0"/>
              </a:rPr>
              <a:t>Secure document upload and verification.</a:t>
            </a:r>
          </a:p>
          <a:p>
            <a:pPr marL="342900" indent="-342900" eaLnBrk="0" fontAlgn="base" hangingPunct="0">
              <a:lnSpc>
                <a:spcPct val="150000"/>
              </a:lnSpc>
              <a:spcBef>
                <a:spcPct val="0"/>
              </a:spcBef>
              <a:spcAft>
                <a:spcPct val="0"/>
              </a:spcAft>
              <a:buClrTx/>
              <a:buSzTx/>
              <a:buFont typeface="Wingdings" panose="05000000000000000000" pitchFamily="2" charset="2"/>
              <a:buChar char="§"/>
            </a:pPr>
            <a:r>
              <a:rPr kumimoji="0" lang="en-US" altLang="en-US" sz="2000" i="0" u="none" strike="noStrike" cap="none" normalizeH="0" baseline="0" dirty="0">
                <a:ln>
                  <a:noFill/>
                </a:ln>
                <a:solidFill>
                  <a:schemeClr val="tx1"/>
                </a:solidFill>
                <a:effectLst/>
                <a:latin typeface="Arial" panose="020B0604020202020204" pitchFamily="34" charset="0"/>
              </a:rPr>
              <a:t>Admin dashboard for official reviews &amp; analytics.</a:t>
            </a:r>
          </a:p>
          <a:p>
            <a:pPr marL="342900" indent="-342900" eaLnBrk="0" fontAlgn="base" hangingPunct="0">
              <a:lnSpc>
                <a:spcPct val="150000"/>
              </a:lnSpc>
              <a:spcBef>
                <a:spcPct val="0"/>
              </a:spcBef>
              <a:spcAft>
                <a:spcPct val="0"/>
              </a:spcAft>
              <a:buClrTx/>
              <a:buSzTx/>
              <a:buFont typeface="Wingdings" panose="05000000000000000000" pitchFamily="2" charset="2"/>
              <a:buChar char="§"/>
            </a:pPr>
            <a:r>
              <a:rPr kumimoji="0" lang="en-US" altLang="en-US" sz="2000" i="0" u="none" strike="noStrike" cap="none" normalizeH="0" baseline="0" dirty="0">
                <a:ln>
                  <a:noFill/>
                </a:ln>
                <a:solidFill>
                  <a:schemeClr val="tx1"/>
                </a:solidFill>
                <a:effectLst/>
                <a:latin typeface="Arial" panose="020B0604020202020204" pitchFamily="34" charset="0"/>
              </a:rPr>
              <a:t>Scalability for future AYUSH integrations (funding schemes, compliance tracking).</a:t>
            </a:r>
          </a:p>
        </p:txBody>
      </p:sp>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IN" dirty="0"/>
              <a:t>GitHub Link</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579120" y="110236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r>
              <a:rPr lang="en-US" dirty="0"/>
              <a:t>GitHub Repository : </a:t>
            </a:r>
            <a:r>
              <a:rPr lang="en-US" dirty="0">
                <a:hlinkClick r:id="rId3"/>
              </a:rPr>
              <a:t>https://github.com/Gangadhara2829/Ayush-Startup-Registration-Portal</a:t>
            </a:r>
            <a:endParaRPr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FC82CA1-D3E2-024A-2006-FC8958DE2387}"/>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378E1977-73ED-D8DB-C5DD-58BBD92CB175}"/>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IN" dirty="0"/>
              <a:t>Timeline (Gantt Chart)</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BF705BA4-6B48-F3F3-7999-B35D73C842DF}"/>
              </a:ext>
            </a:extLst>
          </p:cNvPr>
          <p:cNvSpPr txBox="1">
            <a:spLocks noGrp="1"/>
          </p:cNvSpPr>
          <p:nvPr>
            <p:ph type="body" idx="1"/>
          </p:nvPr>
        </p:nvSpPr>
        <p:spPr>
          <a:xfrm>
            <a:off x="1005840" y="4688841"/>
            <a:ext cx="6461760" cy="2169159"/>
          </a:xfrm>
          <a:prstGeom prst="rect">
            <a:avLst/>
          </a:prstGeom>
          <a:noFill/>
          <a:ln>
            <a:noFill/>
          </a:ln>
        </p:spPr>
        <p:txBody>
          <a:bodyPr spcFirstLastPara="1" wrap="square" lIns="91425" tIns="45700" rIns="91425" bIns="45700" anchor="t" anchorCtr="0">
            <a:normAutofit/>
          </a:bodyPr>
          <a:lstStyle/>
          <a:p>
            <a:pPr>
              <a:lnSpc>
                <a:spcPct val="150000"/>
              </a:lnSpc>
              <a:buFont typeface="Wingdings" panose="05000000000000000000" pitchFamily="2" charset="2"/>
              <a:buChar char="§"/>
            </a:pPr>
            <a:r>
              <a:rPr lang="en-US" sz="1100" dirty="0"/>
              <a:t>Week 1–2: Requirement Analysis &amp; Design (SRS, ER Diagram, Wireframes)</a:t>
            </a:r>
          </a:p>
          <a:p>
            <a:pPr>
              <a:lnSpc>
                <a:spcPct val="150000"/>
              </a:lnSpc>
              <a:buFont typeface="Wingdings" panose="05000000000000000000" pitchFamily="2" charset="2"/>
              <a:buChar char="§"/>
            </a:pPr>
            <a:r>
              <a:rPr lang="en-US" sz="1100" dirty="0"/>
              <a:t>Week 3–6: Development (Frontend + Backend)</a:t>
            </a:r>
          </a:p>
          <a:p>
            <a:pPr>
              <a:lnSpc>
                <a:spcPct val="150000"/>
              </a:lnSpc>
              <a:buFont typeface="Wingdings" panose="05000000000000000000" pitchFamily="2" charset="2"/>
              <a:buChar char="§"/>
            </a:pPr>
            <a:r>
              <a:rPr lang="en-US" sz="1100" dirty="0"/>
              <a:t>Week 7–9: Integration &amp; Testing (APIs, DB, Role-based access)</a:t>
            </a:r>
          </a:p>
          <a:p>
            <a:pPr>
              <a:lnSpc>
                <a:spcPct val="150000"/>
              </a:lnSpc>
              <a:buFont typeface="Wingdings" panose="05000000000000000000" pitchFamily="2" charset="2"/>
              <a:buChar char="§"/>
            </a:pPr>
            <a:r>
              <a:rPr lang="en-US" sz="1100" dirty="0"/>
              <a:t>Week 10–12: Deployment, Documentation, and Final Review</a:t>
            </a:r>
          </a:p>
          <a:p>
            <a:pPr marL="495300" indent="-342900">
              <a:lnSpc>
                <a:spcPct val="150000"/>
              </a:lnSpc>
              <a:spcBef>
                <a:spcPts val="0"/>
              </a:spcBef>
              <a:buFont typeface="Wingdings" panose="05000000000000000000" pitchFamily="2" charset="2"/>
              <a:buChar char="§"/>
            </a:pPr>
            <a:endParaRPr sz="1100"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C0074405-D57A-0045-94B6-DB529C83E48B}"/>
              </a:ext>
            </a:extLst>
          </p:cNvPr>
          <p:cNvPicPr>
            <a:picLocks noChangeAspect="1"/>
          </p:cNvPicPr>
          <p:nvPr/>
        </p:nvPicPr>
        <p:blipFill>
          <a:blip r:embed="rId3"/>
          <a:stretch>
            <a:fillRect/>
          </a:stretch>
        </p:blipFill>
        <p:spPr>
          <a:xfrm>
            <a:off x="1005840" y="1198876"/>
            <a:ext cx="6979930" cy="3489965"/>
          </a:xfrm>
          <a:prstGeom prst="rect">
            <a:avLst/>
          </a:prstGeom>
        </p:spPr>
      </p:pic>
    </p:spTree>
    <p:extLst>
      <p:ext uri="{BB962C8B-B14F-4D97-AF65-F5344CB8AC3E}">
        <p14:creationId xmlns:p14="http://schemas.microsoft.com/office/powerpoint/2010/main" val="3565253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6DAA23F-42A4-6667-E3C5-CCD2F3E7DB4F}"/>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6EF4D5FD-D5B0-EF30-F428-917F285BA6A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681FEB4E-C8F8-175A-7D1B-DCCCF88B2455}"/>
              </a:ext>
            </a:extLst>
          </p:cNvPr>
          <p:cNvSpPr>
            <a:spLocks noGrp="1" noChangeArrowheads="1"/>
          </p:cNvSpPr>
          <p:nvPr>
            <p:ph type="body" idx="1"/>
          </p:nvPr>
        </p:nvSpPr>
        <p:spPr bwMode="auto">
          <a:xfrm>
            <a:off x="594360" y="1100649"/>
            <a:ext cx="1122172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150000"/>
              </a:lnSpc>
              <a:spcBef>
                <a:spcPct val="0"/>
              </a:spcBef>
              <a:spcAft>
                <a:spcPct val="0"/>
              </a:spcAft>
              <a:buClrTx/>
              <a:buSzTx/>
              <a:buFont typeface="Wingdings" panose="05000000000000000000" pitchFamily="2" charset="2"/>
              <a:buChar char="§"/>
            </a:pPr>
            <a:r>
              <a:rPr kumimoji="0" lang="en-US" altLang="en-US" sz="2000" b="0" i="0" u="none" strike="noStrike" cap="none" normalizeH="0" baseline="0" dirty="0">
                <a:ln>
                  <a:noFill/>
                </a:ln>
                <a:solidFill>
                  <a:schemeClr val="tx1"/>
                </a:solidFill>
                <a:effectLst/>
                <a:latin typeface="Arial" panose="020B0604020202020204" pitchFamily="34" charset="0"/>
              </a:rPr>
              <a:t>Ministry of AYUSH, “Startup India: Promoting Innovation in AYUSH Sector,” Govt. of India, 2023.</a:t>
            </a:r>
          </a:p>
          <a:p>
            <a:pPr marL="342900" indent="-342900" eaLnBrk="0" fontAlgn="base" hangingPunct="0">
              <a:lnSpc>
                <a:spcPct val="150000"/>
              </a:lnSpc>
              <a:spcBef>
                <a:spcPct val="0"/>
              </a:spcBef>
              <a:spcAft>
                <a:spcPct val="0"/>
              </a:spcAft>
              <a:buClrTx/>
              <a:buSzTx/>
              <a:buFont typeface="Wingdings" panose="05000000000000000000" pitchFamily="2" charset="2"/>
              <a:buChar char="§"/>
            </a:pPr>
            <a:r>
              <a:rPr kumimoji="0" lang="en-US" altLang="en-US" sz="2000" b="0" i="0" u="none" strike="noStrike" cap="none" normalizeH="0" baseline="0" dirty="0">
                <a:ln>
                  <a:noFill/>
                </a:ln>
                <a:solidFill>
                  <a:schemeClr val="tx1"/>
                </a:solidFill>
                <a:effectLst/>
                <a:latin typeface="Arial" panose="020B0604020202020204" pitchFamily="34" charset="0"/>
              </a:rPr>
              <a:t>A. Kumar, B. R. Patel, and C. Zhang, “E-Governance platforms for startup ecosystems,” IEEE Access, vol. 9, pp. 34567–34578, Mar. 2021.</a:t>
            </a:r>
          </a:p>
          <a:p>
            <a:pPr marL="342900" indent="-342900" eaLnBrk="0" fontAlgn="base" hangingPunct="0">
              <a:lnSpc>
                <a:spcPct val="150000"/>
              </a:lnSpc>
              <a:spcBef>
                <a:spcPct val="0"/>
              </a:spcBef>
              <a:spcAft>
                <a:spcPct val="0"/>
              </a:spcAft>
              <a:buClrTx/>
              <a:buSzTx/>
              <a:buFont typeface="Wingdings" panose="05000000000000000000" pitchFamily="2" charset="2"/>
              <a:buChar char="§"/>
            </a:pPr>
            <a:r>
              <a:rPr kumimoji="0" lang="en-US" altLang="en-US" sz="2000" b="0" i="0" u="none" strike="noStrike" cap="none" normalizeH="0" baseline="0" dirty="0">
                <a:ln>
                  <a:noFill/>
                </a:ln>
                <a:solidFill>
                  <a:schemeClr val="tx1"/>
                </a:solidFill>
                <a:effectLst/>
                <a:latin typeface="Arial" panose="020B0604020202020204" pitchFamily="34" charset="0"/>
              </a:rPr>
              <a:t>J. Smith, “Secure Web Portals for Digital Registrations,” IEEE Transactions on Information Systems, vol. 32, no. 7, pp. 1234–1245, Jul. 2021.</a:t>
            </a:r>
          </a:p>
        </p:txBody>
      </p:sp>
    </p:spTree>
    <p:extLst>
      <p:ext uri="{BB962C8B-B14F-4D97-AF65-F5344CB8AC3E}">
        <p14:creationId xmlns:p14="http://schemas.microsoft.com/office/powerpoint/2010/main" val="3326302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TotalTime>
  <Words>727</Words>
  <Application>Microsoft Office PowerPoint</Application>
  <PresentationFormat>Widescreen</PresentationFormat>
  <Paragraphs>92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Verdana</vt:lpstr>
      <vt:lpstr>Wingdings</vt:lpstr>
      <vt:lpstr>Bioinformatics</vt:lpstr>
      <vt:lpstr>AYUSH Startup Registration Portal</vt:lpstr>
      <vt:lpstr>Problem Statement Number: PSCS_285</vt:lpstr>
      <vt:lpstr>Content</vt:lpstr>
      <vt:lpstr>Problem Statement </vt:lpstr>
      <vt:lpstr>Objectives</vt:lpstr>
      <vt:lpstr>Background &amp; Related Work</vt:lpstr>
      <vt:lpstr>Analysis of Problem Statement </vt:lpstr>
      <vt:lpstr>Technology Stack</vt:lpstr>
      <vt:lpstr>Innovation / Novel Contributions</vt:lpstr>
      <vt:lpstr>GitHub Link</vt:lpstr>
      <vt:lpstr>Timeline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GANGADHARA .</cp:lastModifiedBy>
  <cp:revision>41</cp:revision>
  <dcterms:modified xsi:type="dcterms:W3CDTF">2025-08-19T07:37:05Z</dcterms:modified>
</cp:coreProperties>
</file>